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4"/>
  </p:notesMasterIdLst>
  <p:handoutMasterIdLst>
    <p:handoutMasterId r:id="rId15"/>
  </p:handoutMasterIdLst>
  <p:sldIdLst>
    <p:sldId id="312" r:id="rId5"/>
    <p:sldId id="304" r:id="rId6"/>
    <p:sldId id="307" r:id="rId7"/>
    <p:sldId id="281" r:id="rId8"/>
    <p:sldId id="282" r:id="rId9"/>
    <p:sldId id="314" r:id="rId10"/>
    <p:sldId id="315" r:id="rId11"/>
    <p:sldId id="317" r:id="rId12"/>
    <p:sldId id="318" r:id="rId1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dirty="0"/>
              <a:t>Click to edit Master title style</a:t>
            </a:r>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machine-learning/supervised-machine-learnin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3.jp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 </a:t>
            </a:r>
            <a:r>
              <a:rPr lang="en-US" sz="4500" dirty="0"/>
              <a:t>Bitcoin Price Predictor</a:t>
            </a:r>
            <a:br>
              <a:rPr lang="en-US" sz="4500" dirty="0"/>
            </a:br>
            <a:r>
              <a:rPr lang="en-US" sz="3000" dirty="0"/>
              <a:t>by – manoj rana</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Model used </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a:bodyPr>
          <a:lstStyle/>
          <a:p>
            <a:r>
              <a:rPr lang="en-US" b="1" dirty="0"/>
              <a:t>Linear Regression</a:t>
            </a:r>
          </a:p>
          <a:p>
            <a:r>
              <a:rPr lang="en-US" b="1" dirty="0"/>
              <a:t>Support Vector Regression (SVR)</a:t>
            </a:r>
          </a:p>
          <a:p>
            <a:r>
              <a:rPr lang="en-US" b="1" dirty="0"/>
              <a:t>Decision Tree</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702441" y="1061623"/>
            <a:ext cx="5723586" cy="4739104"/>
          </a:xfrm>
        </p:spPr>
        <p:txBody>
          <a:bodyPr/>
          <a:lstStyle/>
          <a:p>
            <a:r>
              <a:rPr lang="en-US" sz="1700" b="0" dirty="0"/>
              <a:t>Linear regression is a type of </a:t>
            </a:r>
            <a:r>
              <a:rPr lang="en-US" sz="1700" b="0" u="sng" dirty="0">
                <a:hlinkClick r:id="rId3"/>
              </a:rPr>
              <a:t>supervised machine-learning algorithm</a:t>
            </a:r>
            <a:r>
              <a:rPr lang="en-US" sz="1700" b="0" dirty="0"/>
              <a:t> that learns from the labelled datasets and maps the data points with most optimized linear functions which can be used for prediction on new datasets. It assumes that there is a linear relationship between the input and output, meaning the output changes at a constant rate as the input changes. This relationship is represented by a straight line.</a:t>
            </a:r>
            <a:endParaRPr lang="en-US" sz="1700" dirty="0"/>
          </a:p>
        </p:txBody>
      </p:sp>
      <p:pic>
        <p:nvPicPr>
          <p:cNvPr id="7" name="Picture Placeholder 6" descr="A person standing in front of a whiteboard">
            <a:extLst>
              <a:ext uri="{FF2B5EF4-FFF2-40B4-BE49-F238E27FC236}">
                <a16:creationId xmlns:a16="http://schemas.microsoft.com/office/drawing/2014/main" id="{DD186EAB-37C7-E7E6-AE8D-F077D02804F9}"/>
              </a:ext>
            </a:extLst>
          </p:cNvPr>
          <p:cNvPicPr>
            <a:picLocks noGrp="1" noChangeAspect="1"/>
          </p:cNvPicPr>
          <p:nvPr>
            <p:ph type="pic" sz="quarter" idx="11"/>
          </p:nvPr>
        </p:nvPicPr>
        <p:blipFill>
          <a:blip r:embed="rId4">
            <a:duotone>
              <a:prstClr val="black"/>
              <a:schemeClr val="accent1">
                <a:tint val="45000"/>
                <a:satMod val="400000"/>
              </a:schemeClr>
            </a:duotone>
          </a:blip>
          <a:srcRect l="27208" r="27208"/>
          <a:stretch/>
        </p:blipFill>
        <p:spPr>
          <a:xfrm>
            <a:off x="443345" y="0"/>
            <a:ext cx="4344695" cy="6359525"/>
          </a:xfrm>
        </p:spPr>
      </p:pic>
      <p:sp>
        <p:nvSpPr>
          <p:cNvPr id="4" name="TextBox 3">
            <a:extLst>
              <a:ext uri="{FF2B5EF4-FFF2-40B4-BE49-F238E27FC236}">
                <a16:creationId xmlns:a16="http://schemas.microsoft.com/office/drawing/2014/main" id="{192ED0CF-C07A-1B93-460B-1A1388420D9B}"/>
              </a:ext>
            </a:extLst>
          </p:cNvPr>
          <p:cNvSpPr txBox="1"/>
          <p:nvPr/>
        </p:nvSpPr>
        <p:spPr>
          <a:xfrm>
            <a:off x="6096000" y="1057273"/>
            <a:ext cx="3273653" cy="938719"/>
          </a:xfrm>
          <a:prstGeom prst="rect">
            <a:avLst/>
          </a:prstGeom>
          <a:noFill/>
        </p:spPr>
        <p:txBody>
          <a:bodyPr wrap="none" rtlCol="0">
            <a:spAutoFit/>
          </a:bodyPr>
          <a:lstStyle/>
          <a:p>
            <a:r>
              <a:rPr lang="en-US" sz="3000" b="1" dirty="0"/>
              <a:t>Linear Regression</a:t>
            </a:r>
          </a:p>
          <a:p>
            <a:endParaRPr lang="en-US" sz="2500" dirty="0">
              <a:latin typeface="+mj-lt"/>
            </a:endParaRP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5"/>
            <a:ext cx="5259554" cy="2495028"/>
          </a:xfrm>
        </p:spPr>
        <p:txBody>
          <a:bodyPr/>
          <a:lstStyle/>
          <a:p>
            <a:r>
              <a:rPr lang="en-US" dirty="0"/>
              <a:t>Support Vector Regression (SVR)</a:t>
            </a:r>
            <a:br>
              <a:rPr lang="en-US" dirty="0"/>
            </a:br>
            <a:endParaRPr lang="en-US" dirty="0"/>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399" y="3087330"/>
            <a:ext cx="6066503" cy="2954654"/>
          </a:xfrm>
        </p:spPr>
        <p:txBody>
          <a:bodyPr>
            <a:normAutofit fontScale="85000" lnSpcReduction="20000"/>
          </a:bodyPr>
          <a:lstStyle/>
          <a:p>
            <a:pPr fontAlgn="base"/>
            <a:r>
              <a:rPr lang="en-US" dirty="0"/>
              <a:t>support vector regression (SVR) is a type of support vector machine (SVM) that is used for regression tasks. It tries to find a function that best predicts the continuous output value for a given input value.</a:t>
            </a:r>
          </a:p>
          <a:p>
            <a:pPr fontAlgn="base"/>
            <a:r>
              <a:rPr lang="en-US" dirty="0"/>
              <a:t>SVR can use both linear and non-linear kernels. A linear kernel is a simple dot product between two input vectors, while a non-linear kernel is a more complex function that can capture more intricate patterns in the data. The choice of kernel depends on the data's characteristics and the task's complexity.</a:t>
            </a:r>
          </a:p>
          <a:p>
            <a:endParaRPr lang="en-US" dirty="0"/>
          </a:p>
        </p:txBody>
      </p:sp>
      <p:pic>
        <p:nvPicPr>
          <p:cNvPr id="6" name="Picture Placeholder 5" descr="A person holding a microphone and standing in front of a group of people">
            <a:extLst>
              <a:ext uri="{FF2B5EF4-FFF2-40B4-BE49-F238E27FC236}">
                <a16:creationId xmlns:a16="http://schemas.microsoft.com/office/drawing/2014/main" id="{FECDA901-DD88-89EB-E10E-A2994D0A92DB}"/>
              </a:ext>
            </a:extLst>
          </p:cNvPr>
          <p:cNvPicPr>
            <a:picLocks noGrp="1" noChangeAspect="1"/>
          </p:cNvPicPr>
          <p:nvPr>
            <p:ph type="pic" sz="quarter" idx="11"/>
          </p:nvPr>
        </p:nvPicPr>
        <p:blipFill rotWithShape="1">
          <a:blip r:embed="rId3">
            <a:duotone>
              <a:prstClr val="black"/>
              <a:schemeClr val="accent3">
                <a:tint val="45000"/>
                <a:satMod val="400000"/>
              </a:schemeClr>
            </a:duotone>
          </a:blip>
          <a:srcRect l="27745" r="27745"/>
          <a:stretch/>
        </p:blipFill>
        <p:spPr>
          <a:xfrm>
            <a:off x="7414194" y="410780"/>
            <a:ext cx="4344695" cy="6447220"/>
          </a:xfrm>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Decision Tree</a:t>
            </a:r>
            <a:br>
              <a:rPr lang="en-US" dirty="0"/>
            </a:b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1455173"/>
            <a:ext cx="7965460" cy="4945627"/>
          </a:xfrm>
        </p:spPr>
        <p:txBody>
          <a:bodyPr>
            <a:normAutofit/>
          </a:bodyPr>
          <a:lstStyle/>
          <a:p>
            <a:r>
              <a:rPr lang="en-US" dirty="0"/>
              <a:t> Decision Tree helps us to make decisions by mapping out different choices and their possible outcomes. It’s used in machine learning for tasks like classification and prediction. In this article, we’ll see more about Decision Trees, their types and other core concepts.</a:t>
            </a:r>
          </a:p>
          <a:p>
            <a:pPr fontAlgn="base"/>
            <a:r>
              <a:rPr lang="en-US" dirty="0"/>
              <a:t>A Decision Tree helps us make decisions by showing different options and how they are related. It has a tree-like structure that starts with one main question called the root node which represents the entire dataset. From there, the tree branches out into different possibilities based on features in the data.</a:t>
            </a:r>
          </a:p>
          <a:p>
            <a:pPr fontAlgn="base"/>
            <a:r>
              <a:rPr lang="en-US" b="1" dirty="0"/>
              <a:t>Root Node:</a:t>
            </a:r>
            <a:r>
              <a:rPr lang="en-US" dirty="0"/>
              <a:t> Starting point representing the whole dataset.</a:t>
            </a:r>
          </a:p>
          <a:p>
            <a:pPr fontAlgn="base"/>
            <a:r>
              <a:rPr lang="en-US" b="1" dirty="0"/>
              <a:t>Branches:</a:t>
            </a:r>
            <a:r>
              <a:rPr lang="en-US" dirty="0"/>
              <a:t> Lines connecting nodes showing the flow from one decision to another.</a:t>
            </a:r>
          </a:p>
          <a:p>
            <a:pPr fontAlgn="base"/>
            <a:r>
              <a:rPr lang="en-US" b="1" dirty="0"/>
              <a:t>Internal Nodes:</a:t>
            </a:r>
            <a:r>
              <a:rPr lang="en-US" dirty="0"/>
              <a:t> Points where decisions are made based on data features.</a:t>
            </a:r>
          </a:p>
          <a:p>
            <a:pPr fontAlgn="base"/>
            <a:r>
              <a:rPr lang="en-US" b="1" dirty="0"/>
              <a:t>Leaf Nodes:</a:t>
            </a:r>
            <a:r>
              <a:rPr lang="en-US" dirty="0"/>
              <a:t> End points of the tree where the final decision or prediction is made.</a:t>
            </a:r>
          </a:p>
          <a:p>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5"/>
            <a:ext cx="7043617" cy="240584"/>
          </a:xfrm>
        </p:spPr>
        <p:txBody>
          <a:bodyPr/>
          <a:lstStyle/>
          <a:p>
            <a:r>
              <a:rPr lang="en-US" dirty="0"/>
              <a:t>Price prediction </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pic>
        <p:nvPicPr>
          <p:cNvPr id="8" name="Content Placeholder 7">
            <a:extLst>
              <a:ext uri="{FF2B5EF4-FFF2-40B4-BE49-F238E27FC236}">
                <a16:creationId xmlns:a16="http://schemas.microsoft.com/office/drawing/2014/main" id="{430A7F71-970F-B25B-494F-40802F9A3206}"/>
              </a:ext>
            </a:extLst>
          </p:cNvPr>
          <p:cNvPicPr>
            <a:picLocks noGrp="1" noChangeAspect="1"/>
          </p:cNvPicPr>
          <p:nvPr>
            <p:ph idx="11"/>
          </p:nvPr>
        </p:nvPicPr>
        <p:blipFill>
          <a:blip r:embed="rId3"/>
          <a:stretch>
            <a:fillRect/>
          </a:stretch>
        </p:blipFill>
        <p:spPr>
          <a:xfrm>
            <a:off x="4740711" y="1603375"/>
            <a:ext cx="6290390" cy="4438650"/>
          </a:xfrm>
        </p:spPr>
      </p:pic>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1222385"/>
          </a:xfrm>
        </p:spPr>
        <p:txBody>
          <a:bodyPr/>
          <a:lstStyle/>
          <a:p>
            <a:r>
              <a:rPr lang="en-US" dirty="0"/>
              <a:t>Model prediction comparison</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pic>
        <p:nvPicPr>
          <p:cNvPr id="7" name="Content Placeholder 6">
            <a:extLst>
              <a:ext uri="{FF2B5EF4-FFF2-40B4-BE49-F238E27FC236}">
                <a16:creationId xmlns:a16="http://schemas.microsoft.com/office/drawing/2014/main" id="{C2740D80-A6DA-B408-1576-E7E4B090302F}"/>
              </a:ext>
            </a:extLst>
          </p:cNvPr>
          <p:cNvPicPr>
            <a:picLocks noGrp="1" noChangeAspect="1"/>
          </p:cNvPicPr>
          <p:nvPr>
            <p:ph sz="quarter" idx="4"/>
          </p:nvPr>
        </p:nvPicPr>
        <p:blipFill>
          <a:blip r:embed="rId3"/>
          <a:stretch>
            <a:fillRect/>
          </a:stretch>
        </p:blipFill>
        <p:spPr>
          <a:xfrm>
            <a:off x="1640803" y="2057020"/>
            <a:ext cx="7994810" cy="4510929"/>
          </a:xfrm>
        </p:spPr>
      </p:pic>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US" dirty="0"/>
              <a:t>Prediction vs actual price </a:t>
            </a:r>
          </a:p>
        </p:txBody>
      </p:sp>
      <p:pic>
        <p:nvPicPr>
          <p:cNvPr id="10" name="Picture Placeholder 9" descr="A person wearing a blue suit and headphones pointing at a computer">
            <a:extLst>
              <a:ext uri="{FF2B5EF4-FFF2-40B4-BE49-F238E27FC236}">
                <a16:creationId xmlns:a16="http://schemas.microsoft.com/office/drawing/2014/main" id="{DD0A0899-5B02-CEB5-E5DD-448B169C2377}"/>
              </a:ext>
            </a:extLst>
          </p:cNvPr>
          <p:cNvPicPr>
            <a:picLocks noGrp="1" noChangeAspect="1"/>
          </p:cNvPicPr>
          <p:nvPr>
            <p:ph type="pic" sz="quarter" idx="14"/>
          </p:nvPr>
        </p:nvPicPr>
        <p:blipFill rotWithShape="1">
          <a:blip r:embed="rId3">
            <a:duotone>
              <a:prstClr val="black"/>
              <a:schemeClr val="accent1">
                <a:tint val="45000"/>
                <a:satMod val="400000"/>
              </a:schemeClr>
            </a:duotone>
          </a:blip>
          <a:srcRect l="31888" r="31888"/>
          <a:stretch/>
        </p:blipFill>
        <p:spPr>
          <a:xfrm>
            <a:off x="8989454" y="965393"/>
            <a:ext cx="3202545" cy="5892607"/>
          </a:xfrm>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pic>
        <p:nvPicPr>
          <p:cNvPr id="9" name="Content Placeholder 8">
            <a:extLst>
              <a:ext uri="{FF2B5EF4-FFF2-40B4-BE49-F238E27FC236}">
                <a16:creationId xmlns:a16="http://schemas.microsoft.com/office/drawing/2014/main" id="{5130C737-7161-8568-E931-3738019A8DFF}"/>
              </a:ext>
            </a:extLst>
          </p:cNvPr>
          <p:cNvPicPr>
            <a:picLocks noGrp="1" noChangeAspect="1"/>
          </p:cNvPicPr>
          <p:nvPr>
            <p:ph sz="half" idx="15"/>
          </p:nvPr>
        </p:nvPicPr>
        <p:blipFill>
          <a:blip r:embed="rId4"/>
          <a:stretch>
            <a:fillRect/>
          </a:stretch>
        </p:blipFill>
        <p:spPr>
          <a:xfrm>
            <a:off x="914399" y="2057020"/>
            <a:ext cx="7631709" cy="4414684"/>
          </a:xfrm>
        </p:spPr>
      </p:pic>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3657600" y="1057274"/>
            <a:ext cx="5100637" cy="2371726"/>
          </a:xfrm>
        </p:spPr>
        <p:txBody>
          <a:bodyPr/>
          <a:lstStyle/>
          <a:p>
            <a:r>
              <a:rPr lang="en-US" dirty="0"/>
              <a:t>Thank  you </a:t>
            </a:r>
          </a:p>
        </p:txBody>
      </p:sp>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4072101725"/>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{B25AD083-6759-46C2-838C-9329BF8082D1}TF8a9b5915-b8c7-461e-8cdd-693d48b5e32371f7b7e2_win32-4bf0b9a2ea37</Template>
  <TotalTime>19</TotalTime>
  <Words>375</Words>
  <Application>Microsoft Office PowerPoint</Application>
  <PresentationFormat>Widescreen</PresentationFormat>
  <Paragraphs>27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Black</vt:lpstr>
      <vt:lpstr>Calibri</vt:lpstr>
      <vt:lpstr>Sabon Next LT</vt:lpstr>
      <vt:lpstr>Custom</vt:lpstr>
      <vt:lpstr> Bitcoin Price Predictor by – manoj rana</vt:lpstr>
      <vt:lpstr>Model used </vt:lpstr>
      <vt:lpstr>Linear regression is a type of supervised machine-learning algorithm that learns from the labelled datasets and maps the data points with most optimized linear functions which can be used for prediction on new datasets. It assumes that there is a linear relationship between the input and output, meaning the output changes at a constant rate as the input changes. This relationship is represented by a straight line.</vt:lpstr>
      <vt:lpstr>Support Vector Regression (SVR) </vt:lpstr>
      <vt:lpstr>Decision Tree </vt:lpstr>
      <vt:lpstr>Price prediction </vt:lpstr>
      <vt:lpstr>Model prediction comparison</vt:lpstr>
      <vt:lpstr>Prediction vs actual price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manoj rana</dc:creator>
  <cp:lastModifiedBy>manoj rana</cp:lastModifiedBy>
  <cp:revision>1</cp:revision>
  <dcterms:created xsi:type="dcterms:W3CDTF">2025-11-30T16:19:56Z</dcterms:created>
  <dcterms:modified xsi:type="dcterms:W3CDTF">2025-11-30T16:39:30Z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